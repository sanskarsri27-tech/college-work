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italic r:id="rId26"/>
    </p:embeddedFont>
    <p:embeddedFont>
      <p:font typeface="Roboto Bold" panose="02000000000000000000" charset="0"/>
      <p:regular r:id="rId27"/>
    </p:embeddedFont>
    <p:embeddedFont>
      <p:font typeface="Saira Bold" panose="020B0604020202020204" charset="0"/>
      <p:regular r:id="rId28"/>
    </p:embeddedFont>
    <p:embeddedFont>
      <p:font typeface="Saira Light" panose="020B0604020202020204" charset="0"/>
      <p:regular r:id="rId29"/>
    </p:embeddedFont>
    <p:embeddedFont>
      <p:font typeface="Saira Medium" panose="020B0604020202020204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987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36440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Python: From Foundational Logic to Machine Learning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117949"/>
            <a:ext cx="6296860" cy="60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3913485"/>
            <a:ext cx="6296860" cy="1108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Presenters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Sanvi, Shivansh and Shayan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Batch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AIML Training (from CSE)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Date: 27/07/2026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81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Flow Control: If, Loops, and Flow Modifiers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39764"/>
            <a:ext cx="4669018" cy="262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052120"/>
            <a:ext cx="527860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740256" y="1595338"/>
            <a:ext cx="5796214" cy="1057077"/>
          </a:xfrm>
          <a:prstGeom prst="roundRect">
            <a:avLst>
              <a:gd name="adj" fmla="val 14081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24600" y="1779687"/>
            <a:ext cx="54275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Conditional Branching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24600" y="2203450"/>
            <a:ext cx="54275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/ elif / else — guard logic, nested vs flat style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40256" y="2817713"/>
            <a:ext cx="5796214" cy="1883966"/>
          </a:xfrm>
          <a:prstGeom prst="roundRect">
            <a:avLst>
              <a:gd name="adj" fmla="val 7901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4600" y="3002062"/>
            <a:ext cx="54275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Loops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24600" y="3425825"/>
            <a:ext cx="5427527" cy="109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for: iterate sequences.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while: entry level loops.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do-while: exit level loops.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40256" y="4866977"/>
            <a:ext cx="5796214" cy="1057077"/>
          </a:xfrm>
          <a:prstGeom prst="roundRect">
            <a:avLst>
              <a:gd name="adj" fmla="val 14081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4600" y="5051326"/>
            <a:ext cx="54275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Modifiers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24600" y="5475089"/>
            <a:ext cx="54275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 (exit), continue (next iteration)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182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Fundamentals Of Python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79352"/>
            <a:ext cx="4330889" cy="245417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127" y="2388096"/>
            <a:ext cx="651950" cy="6519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0745" y="2388096"/>
            <a:ext cx="21051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List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260745" y="2811859"/>
            <a:ext cx="21051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Mutable, ordered, undexable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83" y="2388096"/>
            <a:ext cx="652049" cy="6520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31300" y="2388096"/>
            <a:ext cx="21051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Tuple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9431300" y="2811859"/>
            <a:ext cx="21051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Immutable, ordered — use for fixed records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2127" y="3671788"/>
            <a:ext cx="651950" cy="6519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60745" y="3671788"/>
            <a:ext cx="21051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Set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260745" y="4095552"/>
            <a:ext cx="21051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Unordered, unique — fast membership checks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83" y="3671788"/>
            <a:ext cx="652049" cy="6520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431300" y="3671788"/>
            <a:ext cx="21051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Dict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9431300" y="4095552"/>
            <a:ext cx="21051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→ value mapping — fast lookup by key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661475" y="516761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69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System Interactions: File Handling &amp; Modular Code(File I/O)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72422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986161"/>
            <a:ext cx="3777560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106910"/>
            <a:ext cx="377756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File Modes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520355"/>
            <a:ext cx="3777560" cy="113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opens a file for read only,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writes and overwrites existing content,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appends new content to the end of a file, and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"x"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creates a new file and fails if it already exists.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04329" y="172422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04329" y="1986161"/>
            <a:ext cx="3777560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9" name="Text 7"/>
          <p:cNvSpPr/>
          <p:nvPr/>
        </p:nvSpPr>
        <p:spPr>
          <a:xfrm>
            <a:off x="4604329" y="2106910"/>
            <a:ext cx="377756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File handling details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604329" y="2582267"/>
            <a:ext cx="3777560" cy="220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File Operations: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open(), close(), read(), readline(), readlines(), and write() support the core workflow for working with files. Use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access a file,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load the full contents,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readlines()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process line by line,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write data, and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release resources when not using a context manager.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653" y="2982020"/>
            <a:ext cx="2744818" cy="15553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897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Numerical Analysis &amp; Visualization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96430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1577" y="2396430"/>
            <a:ext cx="43870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NumPy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1577" y="2820194"/>
            <a:ext cx="43870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ndarray, vectorized ops, linear algebra, performance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15506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1577" y="3415506"/>
            <a:ext cx="43870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Pandas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281577" y="3839270"/>
            <a:ext cx="43870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Series/DataFrame • cleaning, groupby, merge, pivot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434582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1577" y="4434582"/>
            <a:ext cx="43870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281577" y="4858345"/>
            <a:ext cx="43870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plots, customization, exploratory visuals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385" y="2006501"/>
            <a:ext cx="5458085" cy="30929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78385" y="5285482"/>
            <a:ext cx="60676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visual inspection + summary stats to find trends &amp; outliers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469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NumPy: The Power of Numerical Arrays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1117798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 (Numerical Python) is a foundational library for scientific computing, essential for mathematical calculations, data analysis, machine learning, and AI.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88306"/>
            <a:ext cx="5273047" cy="137388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8576" y="1807369"/>
            <a:ext cx="158746" cy="158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780" y="2217440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12780" y="2529880"/>
            <a:ext cx="4970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Significantly faster than Python lists for numerical operations, ideal for large datasets.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67955"/>
            <a:ext cx="5273047" cy="137388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8576" y="3287018"/>
            <a:ext cx="158746" cy="1587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12780" y="3697089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812780" y="4009529"/>
            <a:ext cx="4970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less memory for storing numerical data, making it suitable for memory-intensive tasks.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47605"/>
            <a:ext cx="5273047" cy="1373882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18576" y="4766667"/>
            <a:ext cx="158746" cy="1587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12780" y="5176738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Advanced Math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812780" y="5489178"/>
            <a:ext cx="4970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Offers extensive mathematical functions (ufuncs) for complex computations like linear algebra.</a:t>
            </a:r>
            <a:endParaRPr lang="en-US" sz="10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523" y="1546423"/>
            <a:ext cx="3270664" cy="327074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263523" y="4936232"/>
            <a:ext cx="5273047" cy="1250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its core, NumPy introduces the </a:t>
            </a: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ndarray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(n-dimensional array), a powerful data structure for efficient handling of numerical data, from 1D vectors to multi-dimensional matrices.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</a:t>
            </a: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Installation: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</a:t>
            </a:r>
            <a:r>
              <a:rPr lang="en-US" sz="10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numpy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</a:t>
            </a: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Import: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</a:t>
            </a:r>
            <a:r>
              <a:rPr lang="en-US" sz="10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2302"/>
            <a:ext cx="10868745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NumPy: Essential Functions and Universal Functions (ufuncs)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873621"/>
            <a:ext cx="1086874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 provides a vast array of functions to efficiently manipulate arrays. Among these, </a:t>
            </a:r>
            <a:r>
              <a:rPr lang="en-US" sz="8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Universal Functions (ufuncs)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pivotal for performing fast, element-wise operations on arrays, significantly enhancing computational speed and ease of use.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18803"/>
            <a:ext cx="260343" cy="260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561108"/>
            <a:ext cx="539339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Element-wise Operations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1763117"/>
            <a:ext cx="539339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Ufuncs apply mathematical operations like addition, subtraction, or sine to every element of an array independently, without requiring explicit loops.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61475" y="2108299"/>
            <a:ext cx="5393396" cy="1158280"/>
          </a:xfrm>
          <a:prstGeom prst="roundRect">
            <a:avLst>
              <a:gd name="adj" fmla="val 8092"/>
            </a:avLst>
          </a:prstGeom>
          <a:solidFill>
            <a:srgbClr val="101010"/>
          </a:solidFill>
          <a:ln/>
        </p:spPr>
      </p:sp>
      <p:sp>
        <p:nvSpPr>
          <p:cNvPr id="8" name="Shape 5"/>
          <p:cNvSpPr/>
          <p:nvPr/>
        </p:nvSpPr>
        <p:spPr>
          <a:xfrm>
            <a:off x="656316" y="2108299"/>
            <a:ext cx="5403715" cy="1158280"/>
          </a:xfrm>
          <a:prstGeom prst="roundRect">
            <a:avLst>
              <a:gd name="adj" fmla="val 1349"/>
            </a:avLst>
          </a:prstGeom>
          <a:solidFill>
            <a:srgbClr val="101010"/>
          </a:solidFill>
          <a:ln/>
        </p:spPr>
      </p:sp>
      <p:sp>
        <p:nvSpPr>
          <p:cNvPr id="9" name="Text 6"/>
          <p:cNvSpPr/>
          <p:nvPr/>
        </p:nvSpPr>
        <p:spPr>
          <a:xfrm>
            <a:off x="786487" y="2212380"/>
            <a:ext cx="5143371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np.array([10, 20, 30])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np.add(a, b)      # [11 22 33]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np.multiply(a, b) # [10 40 90]</a:t>
            </a:r>
            <a:endParaRPr lang="en-US" sz="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6824" y="1218803"/>
            <a:ext cx="260343" cy="2603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36824" y="1561108"/>
            <a:ext cx="539339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UFunctions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136824" y="1763117"/>
            <a:ext cx="539339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Leverage C implementations under the hood, ufuncs are dramatically faster than Python's built-in operations for large datasets, making them ideal for performance-critical tasks.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6136824" y="2108299"/>
            <a:ext cx="5393396" cy="1158280"/>
          </a:xfrm>
          <a:prstGeom prst="roundRect">
            <a:avLst>
              <a:gd name="adj" fmla="val 8092"/>
            </a:avLst>
          </a:prstGeom>
          <a:solidFill>
            <a:srgbClr val="101010"/>
          </a:solidFill>
          <a:ln/>
        </p:spPr>
      </p:sp>
      <p:sp>
        <p:nvSpPr>
          <p:cNvPr id="14" name="Shape 10"/>
          <p:cNvSpPr/>
          <p:nvPr/>
        </p:nvSpPr>
        <p:spPr>
          <a:xfrm>
            <a:off x="6131665" y="2108299"/>
            <a:ext cx="5403715" cy="1158280"/>
          </a:xfrm>
          <a:prstGeom prst="roundRect">
            <a:avLst>
              <a:gd name="adj" fmla="val 1349"/>
            </a:avLst>
          </a:prstGeom>
          <a:solidFill>
            <a:srgbClr val="101010"/>
          </a:solidFill>
          <a:ln/>
        </p:spPr>
      </p:sp>
      <p:sp>
        <p:nvSpPr>
          <p:cNvPr id="15" name="Text 11"/>
          <p:cNvSpPr/>
          <p:nvPr/>
        </p:nvSpPr>
        <p:spPr>
          <a:xfrm>
            <a:off x="6261836" y="2212380"/>
            <a:ext cx="5143371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loop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x, y in zip(a, b):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result.append(x + y)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NumPy ufunc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np.add(a, b)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136824" y="3340298"/>
            <a:ext cx="53933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Practical examples: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136824" y="3515320"/>
            <a:ext cx="5393396" cy="472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np.sqrt([1, 4, 9, 16])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[1. 2. 3. 4.]</a:t>
            </a:r>
            <a:endParaRPr lang="en-US" sz="8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np.sin([0, np.pi/2, np.pi])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[0. 1. 0.]</a:t>
            </a:r>
            <a:endParaRPr lang="en-US" sz="8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np.maximum([1, 5, 2], [3, 4, 1])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 5 2]</a:t>
            </a:r>
            <a:endParaRPr lang="en-US" sz="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545259"/>
            <a:ext cx="260343" cy="2603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1475" y="3887564"/>
            <a:ext cx="539339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Broadcasting Support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61475" y="4089573"/>
            <a:ext cx="539339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automatically handle operations between arrays of different but compatible shapes, simplifying code and reducing memory usage.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661475" y="4434755"/>
            <a:ext cx="5393396" cy="1158280"/>
          </a:xfrm>
          <a:prstGeom prst="roundRect">
            <a:avLst>
              <a:gd name="adj" fmla="val 8092"/>
            </a:avLst>
          </a:prstGeom>
          <a:solidFill>
            <a:srgbClr val="101010"/>
          </a:solidFill>
          <a:ln/>
        </p:spPr>
      </p:sp>
      <p:sp>
        <p:nvSpPr>
          <p:cNvPr id="22" name="Shape 17"/>
          <p:cNvSpPr/>
          <p:nvPr/>
        </p:nvSpPr>
        <p:spPr>
          <a:xfrm>
            <a:off x="656316" y="4434755"/>
            <a:ext cx="5403715" cy="1158280"/>
          </a:xfrm>
          <a:prstGeom prst="roundRect">
            <a:avLst>
              <a:gd name="adj" fmla="val 1349"/>
            </a:avLst>
          </a:prstGeom>
          <a:solidFill>
            <a:srgbClr val="101010"/>
          </a:solidFill>
          <a:ln/>
        </p:spPr>
      </p:sp>
      <p:sp>
        <p:nvSpPr>
          <p:cNvPr id="23" name="Text 18"/>
          <p:cNvSpPr/>
          <p:nvPr/>
        </p:nvSpPr>
        <p:spPr>
          <a:xfrm>
            <a:off x="786487" y="4538836"/>
            <a:ext cx="5143371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 2, 3],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[4, 5, 6]])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np.array([10, 20, 30])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np.add(a, b)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[[11 22 33]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[14 25 36]]</a:t>
            </a:r>
            <a:endParaRPr lang="en-US" sz="8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6824" y="4118471"/>
            <a:ext cx="260343" cy="2603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36824" y="4460776"/>
            <a:ext cx="539339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Extensive Library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136824" y="4662785"/>
            <a:ext cx="5393396" cy="45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 offers hundreds of ufuncs for mathematical (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np.add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np.sqrt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trigonometric (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np.sin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np.cos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comparison (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np.maximum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and bitwise operations.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uses include image processing, signal analysis, feature scaling, and fast thresholding in data pipelines.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61475" y="5666754"/>
            <a:ext cx="114783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functions are crucial for scientific computing, enabling complex calculations with minimal code and maximum efficiency.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/>
      <p:bldP spid="3" grpId="0" animBg="1"/>
      <p:bldP spid="5" grpId="0" animBg="1"/>
      <p:bldP spid="6" grpId="0" animBg="1"/>
      <p:bldP spid="9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3171" y="406673"/>
            <a:ext cx="8926157" cy="45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Pandas: Data Manipulation &amp;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21358"/>
            <a:ext cx="10868745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 is a foundational library for data science in Python, providing powerful, flexible, and easy-to-use data structures for working with tabular and time-series data. It has the combining power of Excel, SQL, and Python for efficient data handling.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1563688"/>
            <a:ext cx="2148330" cy="1855490"/>
          </a:xfrm>
          <a:prstGeom prst="roundRect">
            <a:avLst>
              <a:gd name="adj" fmla="val 5923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6211" y="1698427"/>
            <a:ext cx="366306" cy="366316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915" y="1799134"/>
            <a:ext cx="164798" cy="1648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6211" y="2154833"/>
            <a:ext cx="187885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is Pandas?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6211" y="2435622"/>
            <a:ext cx="1878858" cy="848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Python's powerhouse for structured data, simplifying tasks that would be complex with standard Python lists or NumPy arrays.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99893" y="1563688"/>
            <a:ext cx="2148429" cy="1855490"/>
          </a:xfrm>
          <a:prstGeom prst="roundRect">
            <a:avLst>
              <a:gd name="adj" fmla="val 5923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34629" y="1698427"/>
            <a:ext cx="366306" cy="366316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5333" y="1799134"/>
            <a:ext cx="164798" cy="1648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34629" y="2154833"/>
            <a:ext cx="187895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Series (1D Data)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034629" y="2435622"/>
            <a:ext cx="1878958" cy="848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one-dimensional labeled array capable of holding any data type. Conceptually, it's like a single column in a spreadsheet or a SQL table.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138411" y="1563688"/>
            <a:ext cx="2148429" cy="1855490"/>
          </a:xfrm>
          <a:prstGeom prst="roundRect">
            <a:avLst>
              <a:gd name="adj" fmla="val 5923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73146" y="1698427"/>
            <a:ext cx="366306" cy="366316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3851" y="1799134"/>
            <a:ext cx="164798" cy="1648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73146" y="2154833"/>
            <a:ext cx="187895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DataFrame (2D Data)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273146" y="2435622"/>
            <a:ext cx="1878958" cy="6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two-dimensional labeled data structure with columns of potentially different types, much like a spreadsheet or a SQL table.</a:t>
            </a:r>
            <a:endParaRPr lang="en-US" sz="9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4824" t="20072" r="5975" b="18480"/>
          <a:stretch>
            <a:fillRect/>
          </a:stretch>
        </p:blipFill>
        <p:spPr>
          <a:xfrm>
            <a:off x="7439434" y="3269703"/>
            <a:ext cx="3881839" cy="267414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1475" y="4078387"/>
            <a:ext cx="10868745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Installing and Importing Pandas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661475" y="4518720"/>
            <a:ext cx="11478330" cy="17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pip to install Pandas, then import it with the common alias </a:t>
            </a: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55423" y="4796234"/>
            <a:ext cx="4718428" cy="1602184"/>
          </a:xfrm>
          <a:prstGeom prst="roundRect">
            <a:avLst>
              <a:gd name="adj" fmla="val 1143"/>
            </a:avLst>
          </a:prstGeom>
          <a:solidFill>
            <a:srgbClr val="101010"/>
          </a:solidFill>
          <a:ln/>
        </p:spPr>
      </p:sp>
      <p:sp>
        <p:nvSpPr>
          <p:cNvPr id="24" name="Text 18"/>
          <p:cNvSpPr/>
          <p:nvPr/>
        </p:nvSpPr>
        <p:spPr>
          <a:xfrm>
            <a:off x="655423" y="4715976"/>
            <a:ext cx="10575660" cy="1358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Pandas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import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version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pd.__version__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0" grpId="0" animBg="1"/>
      <p:bldP spid="21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46266"/>
            <a:ext cx="10868745" cy="40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Pandas: Essential Data Operations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911225"/>
            <a:ext cx="1147833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 provides a comprehensive toolkit for common data manipulation tasks, making data preparation and analysis efficient and intuitive. Let's explore some key functionalities: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53517"/>
            <a:ext cx="284850" cy="2848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536502"/>
            <a:ext cx="538526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Input/Output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1761629"/>
            <a:ext cx="538526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Easily load data from various sources like CSV, Excel, SQL databases, and JSON files into DataFrames.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61475" y="1962646"/>
            <a:ext cx="5385261" cy="341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Reading </a:t>
            </a: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excel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files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Writing back to files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4860" y="1153517"/>
            <a:ext cx="284850" cy="2848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44860" y="1536502"/>
            <a:ext cx="5385360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Selection &amp; Filtering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144860" y="1761629"/>
            <a:ext cx="538536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and isolate specific subsets of data based on labels, integer location, or conditional logic.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144860" y="1962646"/>
            <a:ext cx="5385360" cy="335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Selecting Data by columns or rows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Filtering Data with conditions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461419"/>
            <a:ext cx="284850" cy="2848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475" y="2844403"/>
            <a:ext cx="538526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Cleaning &amp; Sorting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61475" y="3069530"/>
            <a:ext cx="538526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missing values, duplicates, and ensure data consistency. Arrange data in meaningful orders.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61475" y="3270548"/>
            <a:ext cx="5385261" cy="335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Cleaning (e.g., handling NaNs)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Sorting Data by values or index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4860" y="2461419"/>
            <a:ext cx="284850" cy="28485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44860" y="2844403"/>
            <a:ext cx="5385360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Transformation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144860" y="3069530"/>
            <a:ext cx="538536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Modify existing data or create new derived features to enrich your dataset for analysis.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144860" y="3270548"/>
            <a:ext cx="5385360" cy="335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new Columns and rows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functions to data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762970"/>
            <a:ext cx="284850" cy="28485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1475" y="4145955"/>
            <a:ext cx="538526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Aggregation (GroupBy)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61475" y="4371082"/>
            <a:ext cx="538526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powerful aggregation operations to summarize data based on one or more keys.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61475" y="4553437"/>
            <a:ext cx="5385261" cy="341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summarization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Applying aggregate functions</a:t>
            </a:r>
            <a:endParaRPr lang="en-US" sz="8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4860" y="3762970"/>
            <a:ext cx="284850" cy="28485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44860" y="4145955"/>
            <a:ext cx="5385360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Combining DataFrames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6144860" y="4371082"/>
            <a:ext cx="538536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data from multiple DataFrames using various joining and concatenation methods.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6144860" y="4572099"/>
            <a:ext cx="5385360" cy="34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DataFrames (joins)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DataFrames</a:t>
            </a:r>
            <a:endParaRPr lang="en-US" sz="8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077222"/>
            <a:ext cx="284850" cy="284857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61475" y="5460206"/>
            <a:ext cx="538526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Reshaping Data (Pivot)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661475" y="5685334"/>
            <a:ext cx="5385261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data between "long" and "wide" formats for different analytical needs, similar to spreadsheet pivot tables.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661475" y="6040338"/>
            <a:ext cx="5385261" cy="34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Pivot Tables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summarization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Unstack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operations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0318"/>
            <a:ext cx="10868745" cy="48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Matplotlib: Data Visualization Essentials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252835"/>
            <a:ext cx="10868745" cy="4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 is Python's cornerstone library for creating static, interactive, and animated visualizations. It transforms numerical data into insightful graphs and charts, making complex datasets easily understandable.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57102"/>
            <a:ext cx="386646" cy="3866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624534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Understand Data Quickly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1475" y="3010793"/>
            <a:ext cx="524576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trends, patterns, and outliers at a glance.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39430"/>
            <a:ext cx="386646" cy="3866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4106863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Compare &amp; Analyze Values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61475" y="4493121"/>
            <a:ext cx="524576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Easily compare different data points and relationships.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021759"/>
            <a:ext cx="386646" cy="3866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589191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Effective Reporting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61475" y="5975449"/>
            <a:ext cx="524576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professional, publication-quality figures.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290807" y="2219027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Getting Started: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290807" y="2623443"/>
            <a:ext cx="5245763" cy="1506240"/>
          </a:xfrm>
          <a:prstGeom prst="roundRect">
            <a:avLst>
              <a:gd name="adj" fmla="val 9242"/>
            </a:avLst>
          </a:prstGeom>
          <a:solidFill>
            <a:srgbClr val="101010"/>
          </a:solidFill>
          <a:ln/>
        </p:spPr>
      </p:sp>
      <p:sp>
        <p:nvSpPr>
          <p:cNvPr id="16" name="Text 11"/>
          <p:cNvSpPr/>
          <p:nvPr/>
        </p:nvSpPr>
        <p:spPr>
          <a:xfrm>
            <a:off x="6476441" y="2778026"/>
            <a:ext cx="4874495" cy="11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Installation</a:t>
            </a:r>
            <a:endParaRPr lang="en-US" sz="12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matplotlib</a:t>
            </a:r>
            <a:endParaRPr lang="en-US" sz="1200" dirty="0"/>
          </a:p>
          <a:p>
            <a:pPr marL="0" indent="0" algn="l">
              <a:lnSpc>
                <a:spcPct val="129000"/>
              </a:lnSpc>
              <a:buNone/>
            </a:pPr>
            <a:endParaRPr lang="en-US" sz="12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</a:t>
            </a:r>
            <a:endParaRPr lang="en-US" sz="12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90807" y="4292402"/>
            <a:ext cx="5245763" cy="485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pyplot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module provides a MATLAB-like interface for plotting. It's the most commonly used part of Matplotlib.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90807" y="4922143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Basic Plotting Cycle: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90807" y="5308402"/>
            <a:ext cx="5245763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 </a:t>
            </a: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plt.hist( ), plt.pie( ),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plt.scatter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 )to create the chart.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context.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display the visualization.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856" y="47075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Machine Learning Pipeline</a:t>
            </a:r>
            <a:endParaRPr lang="en-US" sz="2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94BDA4-6028-E077-43E4-0E358AA205E3}"/>
              </a:ext>
            </a:extLst>
          </p:cNvPr>
          <p:cNvGrpSpPr/>
          <p:nvPr/>
        </p:nvGrpSpPr>
        <p:grpSpPr>
          <a:xfrm>
            <a:off x="575399" y="1635363"/>
            <a:ext cx="6842549" cy="3131641"/>
            <a:chOff x="701856" y="1871464"/>
            <a:chExt cx="6842549" cy="3131641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856" y="1871464"/>
              <a:ext cx="6842549" cy="3131641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5941200" y="4259439"/>
              <a:ext cx="1284619" cy="247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Evaluate</a:t>
              </a:r>
              <a:endParaRPr lang="en-US" sz="15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4322229" y="4259439"/>
              <a:ext cx="1284618" cy="247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Train model</a:t>
              </a:r>
              <a:endParaRPr lang="en-US" sz="15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2712056" y="4259439"/>
              <a:ext cx="1284618" cy="247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Preprocess</a:t>
              </a:r>
              <a:endParaRPr lang="en-US" sz="15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66689" y="4259439"/>
              <a:ext cx="1284618" cy="247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Load data</a:t>
              </a:r>
              <a:endParaRPr lang="en-US" sz="1550" dirty="0"/>
            </a:p>
          </p:txBody>
        </p:sp>
      </p:grpSp>
      <p:sp>
        <p:nvSpPr>
          <p:cNvPr id="8" name="Text 5"/>
          <p:cNvSpPr/>
          <p:nvPr/>
        </p:nvSpPr>
        <p:spPr>
          <a:xfrm>
            <a:off x="661475" y="5189141"/>
            <a:ext cx="6923410" cy="5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split (train/test)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 features when needed</a:t>
            </a:r>
            <a:endParaRPr lang="en-US" sz="13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4EF506-8571-0012-FA91-F5BC30E2DC3A}"/>
              </a:ext>
            </a:extLst>
          </p:cNvPr>
          <p:cNvGrpSpPr/>
          <p:nvPr/>
        </p:nvGrpSpPr>
        <p:grpSpPr>
          <a:xfrm>
            <a:off x="7948321" y="1523056"/>
            <a:ext cx="3845573" cy="1064135"/>
            <a:chOff x="7994648" y="1999555"/>
            <a:chExt cx="3845573" cy="1064135"/>
          </a:xfrm>
        </p:grpSpPr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94648" y="1999555"/>
              <a:ext cx="531204" cy="663972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8732520" y="1999555"/>
              <a:ext cx="2803951" cy="2584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Regression</a:t>
              </a:r>
              <a:endParaRPr lang="en-US" sz="16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8732520" y="2423319"/>
              <a:ext cx="3107701" cy="640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LinearRegression — predict continuous data</a:t>
              </a:r>
            </a:p>
            <a:p>
              <a:pPr>
                <a:lnSpc>
                  <a:spcPct val="133000"/>
                </a:lnSpc>
              </a:pPr>
              <a:r>
                <a:rPr lang="en-US" sz="1300" dirty="0" err="1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LogicalRegression</a:t>
              </a:r>
              <a:r>
                <a:rPr lang="en-US" sz="130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— predict category</a:t>
              </a:r>
              <a:endParaRPr lang="en-US" sz="13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E7F55E-EB8A-76B6-7080-D6A70C829103}"/>
              </a:ext>
            </a:extLst>
          </p:cNvPr>
          <p:cNvGrpSpPr/>
          <p:nvPr/>
        </p:nvGrpSpPr>
        <p:grpSpPr>
          <a:xfrm>
            <a:off x="7994648" y="2842349"/>
            <a:ext cx="3541823" cy="843462"/>
            <a:chOff x="7994648" y="3283248"/>
            <a:chExt cx="3541823" cy="843462"/>
          </a:xfrm>
        </p:grpSpPr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94648" y="3283248"/>
              <a:ext cx="531204" cy="663972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8732520" y="3283248"/>
              <a:ext cx="2803951" cy="2584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KNN</a:t>
              </a:r>
              <a:endParaRPr lang="en-US" sz="160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8683505" y="3597477"/>
              <a:ext cx="2803951" cy="5292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K-Nearest Neighbor</a:t>
              </a: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 = number of nearest neighbor</a:t>
              </a:r>
              <a:endParaRPr lang="en-US" sz="13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5B0B84-E02B-1E59-A78F-3E358DC2874E}"/>
              </a:ext>
            </a:extLst>
          </p:cNvPr>
          <p:cNvGrpSpPr/>
          <p:nvPr/>
        </p:nvGrpSpPr>
        <p:grpSpPr>
          <a:xfrm>
            <a:off x="7945634" y="4270809"/>
            <a:ext cx="3541823" cy="1262244"/>
            <a:chOff x="7994648" y="4566940"/>
            <a:chExt cx="3541823" cy="1262244"/>
          </a:xfrm>
        </p:grpSpPr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94648" y="4566940"/>
              <a:ext cx="531204" cy="663972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8732520" y="4566940"/>
              <a:ext cx="2803951" cy="2584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Decision Tree</a:t>
              </a:r>
              <a:endParaRPr lang="en-US" sz="1600" dirty="0"/>
            </a:p>
          </p:txBody>
        </p:sp>
        <p:sp>
          <p:nvSpPr>
            <p:cNvPr id="17" name="Text 11"/>
            <p:cNvSpPr/>
            <p:nvPr/>
          </p:nvSpPr>
          <p:spPr>
            <a:xfrm>
              <a:off x="8732520" y="4990703"/>
              <a:ext cx="2803951" cy="8384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It is a flowchart like algorithm, which ask series of questions, based on answers it reaches the final decision.</a:t>
              </a:r>
              <a:endParaRPr lang="en-US" sz="13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7522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Customer Segmentation, Customer Type Prediction &amp; Country Growth Prediction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419576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A37DB4B-2521-17DE-39AD-5377B748C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-7454"/>
            <a:ext cx="51435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" y="430399"/>
            <a:ext cx="6964524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10-Days AIML Training — Key Skills</a:t>
            </a:r>
            <a:endParaRPr lang="en-US" sz="31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578C12-31DB-367E-F837-1C155BD53941}"/>
              </a:ext>
            </a:extLst>
          </p:cNvPr>
          <p:cNvGrpSpPr/>
          <p:nvPr/>
        </p:nvGrpSpPr>
        <p:grpSpPr>
          <a:xfrm>
            <a:off x="661475" y="1692216"/>
            <a:ext cx="10868746" cy="595709"/>
            <a:chOff x="661475" y="1323677"/>
            <a:chExt cx="10868746" cy="595709"/>
          </a:xfrm>
        </p:grpSpPr>
        <p:sp>
          <p:nvSpPr>
            <p:cNvPr id="3" name="Shape 1"/>
            <p:cNvSpPr/>
            <p:nvPr/>
          </p:nvSpPr>
          <p:spPr>
            <a:xfrm>
              <a:off x="661475" y="1408807"/>
              <a:ext cx="80068" cy="80070"/>
            </a:xfrm>
            <a:prstGeom prst="ellipse">
              <a:avLst/>
            </a:prstGeom>
            <a:solidFill>
              <a:srgbClr val="FC8337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896717" y="1323677"/>
              <a:ext cx="5143500" cy="5645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Python fundamentals</a:t>
              </a:r>
              <a:endParaRPr lang="en-US" sz="15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896717" y="1667073"/>
              <a:ext cx="10633504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list, tuple, set, dictionary</a:t>
              </a:r>
              <a:endParaRPr lang="en-US" sz="125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83C442-FE54-11B1-A4A6-923B89B8F095}"/>
              </a:ext>
            </a:extLst>
          </p:cNvPr>
          <p:cNvGrpSpPr/>
          <p:nvPr/>
        </p:nvGrpSpPr>
        <p:grpSpPr>
          <a:xfrm>
            <a:off x="3600618" y="1692207"/>
            <a:ext cx="10868746" cy="595709"/>
            <a:chOff x="661475" y="2229743"/>
            <a:chExt cx="10868746" cy="595709"/>
          </a:xfrm>
        </p:grpSpPr>
        <p:sp>
          <p:nvSpPr>
            <p:cNvPr id="6" name="Shape 4"/>
            <p:cNvSpPr/>
            <p:nvPr/>
          </p:nvSpPr>
          <p:spPr>
            <a:xfrm>
              <a:off x="661475" y="2314873"/>
              <a:ext cx="80068" cy="80070"/>
            </a:xfrm>
            <a:prstGeom prst="ellipse">
              <a:avLst/>
            </a:prstGeom>
            <a:solidFill>
              <a:srgbClr val="FC8337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896717" y="2229743"/>
              <a:ext cx="10633504" cy="2503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Data handling</a:t>
              </a:r>
              <a:endParaRPr lang="en-US" sz="15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96717" y="2573139"/>
              <a:ext cx="10633504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NumPy, Pandas — cleaning &amp; transforms</a:t>
              </a:r>
              <a:endParaRPr lang="en-US" sz="125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952AE9-B4DD-B451-89E2-6F7B7B0236B5}"/>
              </a:ext>
            </a:extLst>
          </p:cNvPr>
          <p:cNvGrpSpPr/>
          <p:nvPr/>
        </p:nvGrpSpPr>
        <p:grpSpPr>
          <a:xfrm>
            <a:off x="567169" y="2988575"/>
            <a:ext cx="10868746" cy="595709"/>
            <a:chOff x="661475" y="3135809"/>
            <a:chExt cx="10868746" cy="595709"/>
          </a:xfrm>
        </p:grpSpPr>
        <p:sp>
          <p:nvSpPr>
            <p:cNvPr id="9" name="Shape 7"/>
            <p:cNvSpPr/>
            <p:nvPr/>
          </p:nvSpPr>
          <p:spPr>
            <a:xfrm>
              <a:off x="661475" y="3220938"/>
              <a:ext cx="80068" cy="80070"/>
            </a:xfrm>
            <a:prstGeom prst="ellipse">
              <a:avLst/>
            </a:prstGeom>
            <a:solidFill>
              <a:srgbClr val="FC8337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896717" y="3135809"/>
              <a:ext cx="10633504" cy="2503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Visualization</a:t>
              </a:r>
              <a:endParaRPr lang="en-US" sz="15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96717" y="3479205"/>
              <a:ext cx="10633504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Matplotlib — exploratory plots</a:t>
              </a:r>
              <a:endParaRPr lang="en-US" sz="12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AAB8BC3-8136-0493-8104-3D8C14C2EC4B}"/>
              </a:ext>
            </a:extLst>
          </p:cNvPr>
          <p:cNvGrpSpPr/>
          <p:nvPr/>
        </p:nvGrpSpPr>
        <p:grpSpPr>
          <a:xfrm>
            <a:off x="3600618" y="2987583"/>
            <a:ext cx="10868746" cy="595709"/>
            <a:chOff x="661475" y="4041874"/>
            <a:chExt cx="10868746" cy="595709"/>
          </a:xfrm>
        </p:grpSpPr>
        <p:sp>
          <p:nvSpPr>
            <p:cNvPr id="12" name="Shape 10"/>
            <p:cNvSpPr/>
            <p:nvPr/>
          </p:nvSpPr>
          <p:spPr>
            <a:xfrm>
              <a:off x="661475" y="4127004"/>
              <a:ext cx="80068" cy="80070"/>
            </a:xfrm>
            <a:prstGeom prst="ellipse">
              <a:avLst/>
            </a:prstGeom>
            <a:solidFill>
              <a:srgbClr val="FC8337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896717" y="4041874"/>
              <a:ext cx="10633504" cy="2503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Supervised learning</a:t>
              </a:r>
              <a:endParaRPr lang="en-US" sz="15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96717" y="4385270"/>
              <a:ext cx="10633504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Linear, Logistic, Random Forest</a:t>
              </a:r>
              <a:endParaRPr lang="en-US" sz="12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467C417-3091-C437-9159-BE2B9DCC63CA}"/>
              </a:ext>
            </a:extLst>
          </p:cNvPr>
          <p:cNvGrpSpPr/>
          <p:nvPr/>
        </p:nvGrpSpPr>
        <p:grpSpPr>
          <a:xfrm>
            <a:off x="567169" y="4212826"/>
            <a:ext cx="10868746" cy="595709"/>
            <a:chOff x="661475" y="4947940"/>
            <a:chExt cx="10868746" cy="595709"/>
          </a:xfrm>
        </p:grpSpPr>
        <p:sp>
          <p:nvSpPr>
            <p:cNvPr id="15" name="Shape 13"/>
            <p:cNvSpPr/>
            <p:nvPr/>
          </p:nvSpPr>
          <p:spPr>
            <a:xfrm>
              <a:off x="661475" y="5033070"/>
              <a:ext cx="80068" cy="80070"/>
            </a:xfrm>
            <a:prstGeom prst="ellipse">
              <a:avLst/>
            </a:prstGeom>
            <a:solidFill>
              <a:srgbClr val="FC8337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896717" y="4947940"/>
              <a:ext cx="10633504" cy="2503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Unsupervised learning</a:t>
              </a:r>
              <a:endParaRPr lang="en-US" sz="15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96717" y="5291336"/>
              <a:ext cx="10633504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KMeans clustering</a:t>
              </a:r>
              <a:endParaRPr lang="en-US" sz="125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C7F1D4-DDE9-B833-4B43-CE562DA1EB38}"/>
              </a:ext>
            </a:extLst>
          </p:cNvPr>
          <p:cNvGrpSpPr/>
          <p:nvPr/>
        </p:nvGrpSpPr>
        <p:grpSpPr>
          <a:xfrm>
            <a:off x="436903" y="5437040"/>
            <a:ext cx="11318194" cy="627063"/>
            <a:chOff x="661475" y="5718175"/>
            <a:chExt cx="11318194" cy="627063"/>
          </a:xfrm>
        </p:grpSpPr>
        <p:sp>
          <p:nvSpPr>
            <p:cNvPr id="18" name="Shape 16"/>
            <p:cNvSpPr/>
            <p:nvPr/>
          </p:nvSpPr>
          <p:spPr>
            <a:xfrm>
              <a:off x="661475" y="5718175"/>
              <a:ext cx="6387025" cy="627063"/>
            </a:xfrm>
            <a:prstGeom prst="roundRect">
              <a:avLst>
                <a:gd name="adj" fmla="val 22996"/>
              </a:avLst>
            </a:prstGeom>
            <a:solidFill>
              <a:srgbClr val="7E3202"/>
            </a:solidFill>
            <a:ln/>
          </p:spPr>
        </p:sp>
        <p:pic>
          <p:nvPicPr>
            <p:cNvPr id="19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1610" y="5943203"/>
              <a:ext cx="200218" cy="160139"/>
            </a:xfrm>
            <a:prstGeom prst="rect">
              <a:avLst/>
            </a:prstGeom>
          </p:spPr>
        </p:pic>
        <p:sp>
          <p:nvSpPr>
            <p:cNvPr id="20" name="Text 17"/>
            <p:cNvSpPr/>
            <p:nvPr/>
          </p:nvSpPr>
          <p:spPr>
            <a:xfrm>
              <a:off x="1181963" y="5913338"/>
              <a:ext cx="10797706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This project applies these concepts together on a real-world retail dataset.</a:t>
              </a:r>
              <a:endParaRPr lang="en-US" sz="12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9610" y="1540272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Overview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305050"/>
            <a:ext cx="69064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Problem: Raw transaction data — no customer insight, unclear growth focus.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233360" y="2868116"/>
            <a:ext cx="361673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Dataset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233360" y="3291880"/>
            <a:ext cx="3616731" cy="14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~540,000 UK online retail transactions (Dec 2010–Dec 2011)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columns: InvoiceNo, StockCode, Description, Quantity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InvoiceDate, UnitPrice, CustomerID, Country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259854" y="2868116"/>
            <a:ext cx="22766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Three objectives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59854" y="3291880"/>
            <a:ext cx="2276616" cy="1968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 customers (KMeans)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customer type for new customers (Random Forest)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country sales growth (Linear Regression)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134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Methodology — High Level Flow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68" y="1318518"/>
            <a:ext cx="10325239" cy="4646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38216" y="1517083"/>
            <a:ext cx="1806894" cy="27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Prepare Data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2538216" y="1875740"/>
            <a:ext cx="1806894" cy="4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Cleaning and compute key features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75613" y="5001893"/>
            <a:ext cx="1816822" cy="27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Cluster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275613" y="5360551"/>
            <a:ext cx="1816822" cy="4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Elbow (k=4) then KMeans clustering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42795" y="1482334"/>
            <a:ext cx="1806893" cy="27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Model Segments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092435" y="1840991"/>
            <a:ext cx="1806893" cy="4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Random Forest on labels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29832" y="4862277"/>
            <a:ext cx="1806893" cy="558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Country Regression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829832" y="5500167"/>
            <a:ext cx="1806893" cy="4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models per country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1475" y="6132810"/>
            <a:ext cx="11478330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Note: Manual train/test split and manual accuracy calculation used to demonstrate fundamentals (not a black-box).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9391"/>
            <a:ext cx="10868745" cy="436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</a:rPr>
              <a:t>Results — Visual</a:t>
            </a:r>
            <a:r>
              <a:rPr lang="en-US" sz="1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</a:t>
            </a:r>
            <a:r>
              <a:rPr lang="en-US" sz="3250" dirty="0">
                <a:solidFill>
                  <a:srgbClr val="FFFFFF"/>
                </a:solidFill>
                <a:latin typeface="Saira Medium" pitchFamily="34" charset="0"/>
              </a:rPr>
              <a:t>Highlights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690066"/>
            <a:ext cx="11478330" cy="6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analysis reveals actionable insights across customer segmentation and growth prediction.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5430" y="865625"/>
            <a:ext cx="5360655" cy="11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Optimal Clusters: Elbow Method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907"/>
            <a:ext cx="3484376" cy="25093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3475137"/>
            <a:ext cx="5970240" cy="5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elbow method clearly indicates 4 optimal clusters for customer segmentation, where the decrease in inertia significantly diminishes.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169565" y="685839"/>
            <a:ext cx="5360655" cy="11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</a:rPr>
              <a:t>Customer Segments Overview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915" y="940991"/>
            <a:ext cx="3484376" cy="25093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5915" y="3475137"/>
            <a:ext cx="5970240" cy="5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breakdown of the four customer segments by their relative sizes, informing targeted marketing strategies.</a:t>
            </a:r>
            <a:endParaRPr lang="en-US" sz="600" dirty="0"/>
          </a:p>
        </p:txBody>
      </p:sp>
      <p:sp>
        <p:nvSpPr>
          <p:cNvPr id="10" name="Shape 6"/>
          <p:cNvSpPr/>
          <p:nvPr/>
        </p:nvSpPr>
        <p:spPr>
          <a:xfrm>
            <a:off x="661475" y="3587750"/>
            <a:ext cx="10868745" cy="635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590354" y="4307105"/>
            <a:ext cx="5360655" cy="11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</a:rPr>
              <a:t>Customer Type Prediction Accuracy</a:t>
            </a:r>
          </a:p>
        </p:txBody>
      </p:sp>
      <p:sp>
        <p:nvSpPr>
          <p:cNvPr id="12" name="Text 8"/>
          <p:cNvSpPr/>
          <p:nvPr/>
        </p:nvSpPr>
        <p:spPr>
          <a:xfrm>
            <a:off x="1599565" y="4775439"/>
            <a:ext cx="3484376" cy="199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98.6%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5429" y="5256269"/>
            <a:ext cx="5360655" cy="94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90355" y="5479156"/>
            <a:ext cx="5360655" cy="6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61475" y="5843209"/>
            <a:ext cx="5970240" cy="5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Random Forest model achieved exceptional accuracy in predicting customer segments for new customers.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175915" y="3656013"/>
            <a:ext cx="5360655" cy="11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</a:rPr>
              <a:t>Top Country Growth Prediction</a:t>
            </a: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915" y="3794125"/>
            <a:ext cx="3484376" cy="250934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5915" y="6328271"/>
            <a:ext cx="5970240" cy="5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Norway stands out with an estimated monthly sales growth of ~14%, highlighting key international market potential.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6455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Business Impact &amp; Next Steps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2129334"/>
            <a:ext cx="6296860" cy="2466975"/>
          </a:xfrm>
          <a:prstGeom prst="roundRect">
            <a:avLst>
              <a:gd name="adj" fmla="val 6034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0524" y="2148384"/>
            <a:ext cx="2086220" cy="1475978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6" name="Text 3"/>
          <p:cNvSpPr/>
          <p:nvPr/>
        </p:nvSpPr>
        <p:spPr>
          <a:xfrm>
            <a:off x="845819" y="2313682"/>
            <a:ext cx="1755632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Targeted marketing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5819" y="2929830"/>
            <a:ext cx="175563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Campaigns matched to segment value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66745" y="2148384"/>
            <a:ext cx="2086220" cy="1475978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9" name="Shape 6"/>
          <p:cNvSpPr/>
          <p:nvPr/>
        </p:nvSpPr>
        <p:spPr>
          <a:xfrm>
            <a:off x="2766745" y="2148384"/>
            <a:ext cx="19050" cy="1475978"/>
          </a:xfrm>
          <a:prstGeom prst="roundRect">
            <a:avLst>
              <a:gd name="adj" fmla="val 781376"/>
            </a:avLst>
          </a:prstGeom>
          <a:solidFill>
            <a:srgbClr val="E2691D"/>
          </a:solidFill>
          <a:ln/>
        </p:spPr>
      </p:sp>
      <p:sp>
        <p:nvSpPr>
          <p:cNvPr id="10" name="Text 7"/>
          <p:cNvSpPr/>
          <p:nvPr/>
        </p:nvSpPr>
        <p:spPr>
          <a:xfrm>
            <a:off x="2932039" y="2313682"/>
            <a:ext cx="175563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Retention priority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932039" y="2671366"/>
            <a:ext cx="175563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high-value churn risk segments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52965" y="2148384"/>
            <a:ext cx="2086320" cy="1475978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13" name="Shape 10"/>
          <p:cNvSpPr/>
          <p:nvPr/>
        </p:nvSpPr>
        <p:spPr>
          <a:xfrm>
            <a:off x="4852965" y="2148384"/>
            <a:ext cx="19050" cy="1475978"/>
          </a:xfrm>
          <a:prstGeom prst="roundRect">
            <a:avLst>
              <a:gd name="adj" fmla="val 781376"/>
            </a:avLst>
          </a:prstGeom>
          <a:solidFill>
            <a:srgbClr val="E2691D"/>
          </a:solidFill>
          <a:ln/>
        </p:spPr>
      </p:sp>
      <p:sp>
        <p:nvSpPr>
          <p:cNvPr id="14" name="Text 11"/>
          <p:cNvSpPr/>
          <p:nvPr/>
        </p:nvSpPr>
        <p:spPr>
          <a:xfrm>
            <a:off x="5018260" y="2313682"/>
            <a:ext cx="1755731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Instant classification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18260" y="2929830"/>
            <a:ext cx="175573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new-customer type at signup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0524" y="3624362"/>
            <a:ext cx="6258761" cy="952897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17" name="Shape 14"/>
          <p:cNvSpPr/>
          <p:nvPr/>
        </p:nvSpPr>
        <p:spPr>
          <a:xfrm>
            <a:off x="680524" y="3624362"/>
            <a:ext cx="6258761" cy="19050"/>
          </a:xfrm>
          <a:prstGeom prst="roundRect">
            <a:avLst>
              <a:gd name="adj" fmla="val 781376"/>
            </a:avLst>
          </a:prstGeom>
          <a:solidFill>
            <a:srgbClr val="E2691D"/>
          </a:solidFill>
          <a:ln/>
        </p:spPr>
      </p:sp>
      <p:sp>
        <p:nvSpPr>
          <p:cNvPr id="18" name="Text 15"/>
          <p:cNvSpPr/>
          <p:nvPr/>
        </p:nvSpPr>
        <p:spPr>
          <a:xfrm>
            <a:off x="845819" y="3789660"/>
            <a:ext cx="59281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Expansion decisions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5819" y="4147344"/>
            <a:ext cx="592817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countries with positive growth (e.g., Norway)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61475" y="4823619"/>
            <a:ext cx="6296860" cy="1905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61475" y="5069979"/>
            <a:ext cx="6296860" cy="423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more time: add Recency to build RFM, ingest more countries, automate model pipeline and deploy as a live dashboard. Now — I'll switch to the Jupyter notebook to show the implementation.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86650" y="1684005"/>
            <a:ext cx="7148362" cy="174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600" b="1" i="1" dirty="0">
                <a:solidFill>
                  <a:srgbClr val="FFFFFF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Thank You</a:t>
            </a:r>
            <a:r>
              <a:rPr lang="en-US" sz="9600" b="1" i="1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!</a:t>
            </a:r>
            <a:endParaRPr lang="en-US" sz="9600" b="1" i="1" dirty="0"/>
          </a:p>
        </p:txBody>
      </p:sp>
      <p:sp>
        <p:nvSpPr>
          <p:cNvPr id="4" name="Text 1"/>
          <p:cNvSpPr/>
          <p:nvPr/>
        </p:nvSpPr>
        <p:spPr>
          <a:xfrm>
            <a:off x="4571886" y="3429000"/>
            <a:ext cx="6906444" cy="563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0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appreciate your time and attention today.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1887</Words>
  <Application>Microsoft Office PowerPoint</Application>
  <PresentationFormat>Widescreen</PresentationFormat>
  <Paragraphs>247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Saira Medium</vt:lpstr>
      <vt:lpstr>Roboto</vt:lpstr>
      <vt:lpstr>Saira Bold</vt:lpstr>
      <vt:lpstr>Consolas</vt:lpstr>
      <vt:lpstr>Arial</vt:lpstr>
      <vt:lpstr>Roboto Bold</vt:lpstr>
      <vt:lpstr>Saira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Shivansh Verma</dc:creator>
  <cp:lastModifiedBy>Shivansh Verma</cp:lastModifiedBy>
  <cp:revision>6</cp:revision>
  <dcterms:created xsi:type="dcterms:W3CDTF">2026-07-26T02:01:10Z</dcterms:created>
  <dcterms:modified xsi:type="dcterms:W3CDTF">2026-07-27T04:41:16Z</dcterms:modified>
</cp:coreProperties>
</file>